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Open Sans" charset="1" panose="020B0606030504020204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jpe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Relationship Id="rId8" Target="../media/image14.jpe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jpe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6" r="0" b="-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81659" y="2046849"/>
            <a:ext cx="4177570" cy="417757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3623765"/>
            <a:ext cx="15764606" cy="89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3"/>
              </a:lnSpc>
              <a:spcBef>
                <a:spcPct val="0"/>
              </a:spcBef>
            </a:pPr>
            <a:r>
              <a:rPr lang="en-US" sz="49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DE STREAMING CON SERVICIOS WEB EN 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1707" y="5123597"/>
            <a:ext cx="8246273" cy="143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480" indent="-263740" lvl="1">
              <a:lnSpc>
                <a:spcPts val="5961"/>
              </a:lnSpc>
              <a:buFont typeface="Arial"/>
              <a:buChar char="•"/>
            </a:pPr>
            <a:r>
              <a:rPr lang="en-US" sz="2443" spc="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Evaluación Contacto con el Docente </a:t>
            </a:r>
          </a:p>
          <a:p>
            <a:pPr algn="l" marL="527480" indent="-263740" lvl="1">
              <a:lnSpc>
                <a:spcPts val="5961"/>
              </a:lnSpc>
              <a:buFont typeface="Arial"/>
              <a:buChar char="•"/>
            </a:pPr>
            <a:r>
              <a:rPr lang="en-US" sz="2443" spc="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Progrmacion Orientada a Objetos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5584" y="1014825"/>
            <a:ext cx="4143716" cy="3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18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Internacional del Ecuador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8136" y="4543713"/>
            <a:ext cx="8101436" cy="8101436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575315" y="1957448"/>
            <a:ext cx="1080030" cy="108003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8519697" cy="10287000"/>
          </a:xfrm>
          <a:custGeom>
            <a:avLst/>
            <a:gdLst/>
            <a:ahLst/>
            <a:cxnLst/>
            <a:rect r="r" b="b" t="t" l="l"/>
            <a:pathLst>
              <a:path h="10287000" w="8519697">
                <a:moveTo>
                  <a:pt x="0" y="0"/>
                </a:moveTo>
                <a:lnTo>
                  <a:pt x="8519697" y="0"/>
                </a:lnTo>
                <a:lnTo>
                  <a:pt x="8519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24" t="0" r="-4916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34817" y="1994860"/>
            <a:ext cx="7626960" cy="259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SELECCIÓN DEL TEMA</a:t>
            </a:r>
          </a:p>
          <a:p>
            <a:pPr algn="l">
              <a:lnSpc>
                <a:spcPts val="6709"/>
              </a:lnSpc>
            </a:pPr>
          </a:p>
          <a:p>
            <a:pPr algn="l">
              <a:lnSpc>
                <a:spcPts val="670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10479" y="3564262"/>
            <a:ext cx="7548821" cy="619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este proyecto se eligió desarrollar un Sistema de Streaming, ya que permite aplicar:</a:t>
            </a:r>
          </a:p>
          <a:p>
            <a:pPr algn="l" marL="579339" indent="-289669" lvl="1">
              <a:lnSpc>
                <a:spcPts val="3756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 de usuarios</a:t>
            </a:r>
          </a:p>
          <a:p>
            <a:pPr algn="l" marL="579339" indent="-289669" lvl="1">
              <a:lnSpc>
                <a:spcPts val="3756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de contenido</a:t>
            </a:r>
          </a:p>
          <a:p>
            <a:pPr algn="l" marL="579339" indent="-289669" lvl="1">
              <a:lnSpc>
                <a:spcPts val="3756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Historial de reproducción</a:t>
            </a:r>
          </a:p>
          <a:p>
            <a:pPr algn="l" marL="579339" indent="-289669" lvl="1">
              <a:lnSpc>
                <a:spcPts val="3756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 web reales</a:t>
            </a:r>
          </a:p>
          <a:p>
            <a:pPr algn="l" marL="579339" indent="-289669" lvl="1">
              <a:lnSpc>
                <a:spcPts val="3756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Manejo de estructuras de datos</a:t>
            </a:r>
          </a:p>
          <a:p>
            <a:pPr algn="l" marL="579339" indent="-289669" lvl="1">
              <a:lnSpc>
                <a:spcPts val="3756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Programación funcional y orientada a objetos</a:t>
            </a:r>
          </a:p>
          <a:p>
            <a:pPr algn="l">
              <a:lnSpc>
                <a:spcPts val="3756"/>
              </a:lnSpc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entorno moderno, realista y fácil de escalar tecnológicamente.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4915026" y="315677"/>
            <a:ext cx="2993353" cy="870896"/>
            <a:chOff x="0" y="0"/>
            <a:chExt cx="2269857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258915" y="519579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1"/>
                </a:lnTo>
                <a:lnTo>
                  <a:pt x="0" y="433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000022" y="442209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051687"/>
            <a:ext cx="16230600" cy="3748522"/>
            <a:chOff x="0" y="0"/>
            <a:chExt cx="21640800" cy="4998029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/>
            <a:srcRect l="0" t="32667" r="0" b="32667"/>
            <a:stretch>
              <a:fillRect/>
            </a:stretch>
          </p:blipFill>
          <p:spPr>
            <a:xfrm flipH="false" flipV="false">
              <a:off x="0" y="0"/>
              <a:ext cx="21640800" cy="4998029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1481817" y="6747869"/>
            <a:ext cx="1080030" cy="108003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69807" y="6804331"/>
            <a:ext cx="7576320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21981" y="6794806"/>
            <a:ext cx="8097446" cy="220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Diseñar e implementar un sistema de streaming utilizando Go que permita gestionar usuarios, contenidos y reproducción, integrando principios de POO, manejo de errores, interfaces, concurrencia y servicios web.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55258" y="2071086"/>
            <a:ext cx="4501435" cy="4501417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4999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05976" y="4231058"/>
            <a:ext cx="5027242" cy="5027242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3768888" y="4493970"/>
            <a:ext cx="4501435" cy="4501417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24999" t="0" r="-2499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40746" y="2068833"/>
            <a:ext cx="1080030" cy="108003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778386" y="1636022"/>
            <a:ext cx="6977590" cy="174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ALCANCES DEL 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5910" y="4039251"/>
            <a:ext cx="7683390" cy="494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 completa de usuarios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y administración de contenido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Reproducción simulada y registro de historial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Exposición de endpoints REST (8 servicios web)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Serialización con JSON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Repositorio en memoria con interfaces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Validaciones, constructores y métodos</a:t>
            </a:r>
          </a:p>
          <a:p>
            <a:pPr algn="l" marL="518291" indent="-259146" lvl="1">
              <a:lnSpc>
                <a:spcPts val="393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por capas (handlers, services, repos, models)</a:t>
            </a:r>
          </a:p>
          <a:p>
            <a:pPr algn="l">
              <a:lnSpc>
                <a:spcPts val="3936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34920" y="2187629"/>
            <a:ext cx="3970010" cy="5911741"/>
            <a:chOff x="0" y="0"/>
            <a:chExt cx="1448270" cy="2156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8270" cy="2156619"/>
            </a:xfrm>
            <a:custGeom>
              <a:avLst/>
              <a:gdLst/>
              <a:ahLst/>
              <a:cxnLst/>
              <a:rect r="r" b="b" t="t" l="l"/>
              <a:pathLst>
                <a:path h="2156619" w="1448270">
                  <a:moveTo>
                    <a:pt x="0" y="0"/>
                  </a:moveTo>
                  <a:lnTo>
                    <a:pt x="1448270" y="0"/>
                  </a:lnTo>
                  <a:lnTo>
                    <a:pt x="1448270" y="2156619"/>
                  </a:lnTo>
                  <a:lnTo>
                    <a:pt x="0" y="2156619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771244" y="6471644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33361" y="0"/>
            <a:ext cx="3393618" cy="3466629"/>
            <a:chOff x="0" y="0"/>
            <a:chExt cx="4524823" cy="4622171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/>
            <a:srcRect l="17358" t="0" r="17358" b="0"/>
            <a:stretch>
              <a:fillRect/>
            </a:stretch>
          </p:blipFill>
          <p:spPr>
            <a:xfrm flipH="false" flipV="false">
              <a:off x="0" y="0"/>
              <a:ext cx="4524823" cy="4622171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9933361" y="3857618"/>
            <a:ext cx="3393618" cy="3466629"/>
            <a:chOff x="0" y="0"/>
            <a:chExt cx="4524823" cy="4622171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7"/>
            <a:srcRect l="0" t="12015" r="0" b="19798"/>
            <a:stretch>
              <a:fillRect/>
            </a:stretch>
          </p:blipFill>
          <p:spPr>
            <a:xfrm flipH="false" flipV="false">
              <a:off x="0" y="0"/>
              <a:ext cx="4524823" cy="4622171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13625176" y="2952432"/>
            <a:ext cx="3393618" cy="3466629"/>
            <a:chOff x="0" y="0"/>
            <a:chExt cx="4524823" cy="4622171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8"/>
            <a:srcRect l="17327" t="0" r="17327" b="0"/>
            <a:stretch>
              <a:fillRect/>
            </a:stretch>
          </p:blipFill>
          <p:spPr>
            <a:xfrm flipH="false" flipV="false">
              <a:off x="0" y="0"/>
              <a:ext cx="4524823" cy="4622171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13625176" y="6810050"/>
            <a:ext cx="3393618" cy="3466629"/>
            <a:chOff x="0" y="0"/>
            <a:chExt cx="4524823" cy="4622171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9"/>
            <a:srcRect l="17327" t="0" r="17327" b="0"/>
            <a:stretch>
              <a:fillRect/>
            </a:stretch>
          </p:blipFill>
          <p:spPr>
            <a:xfrm flipH="false" flipV="false">
              <a:off x="0" y="0"/>
              <a:ext cx="4524823" cy="4622171"/>
            </a:xfrm>
            <a:prstGeom prst="rect">
              <a:avLst/>
            </a:prstGeom>
          </p:spPr>
        </p:pic>
      </p:grpSp>
      <p:sp>
        <p:nvSpPr>
          <p:cNvPr name="TextBox 16" id="16"/>
          <p:cNvSpPr txBox="true"/>
          <p:nvPr/>
        </p:nvSpPr>
        <p:spPr>
          <a:xfrm rot="0">
            <a:off x="1769807" y="4482540"/>
            <a:ext cx="7077431" cy="236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Services: reglas de negocio e interfaces</a:t>
            </a: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Repos: almacenamiento en memoria</a:t>
            </a: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Handlers: controladores HTTP</a:t>
            </a: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CMD: ejecución de la aplicación (main.go)</a:t>
            </a:r>
          </a:p>
          <a:p>
            <a:pPr algn="l">
              <a:lnSpc>
                <a:spcPts val="317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69807" y="3848093"/>
            <a:ext cx="4748421" cy="49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6"/>
              </a:lnSpc>
              <a:spcBef>
                <a:spcPct val="0"/>
              </a:spcBef>
            </a:pPr>
            <a:r>
              <a:rPr lang="en-US" b="true" sz="2732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Capas implementadas: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9807" y="6946975"/>
            <a:ext cx="4336741" cy="49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b="true" sz="2729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Patrones aplicados: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41692" y="1702697"/>
            <a:ext cx="1080030" cy="108003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69807" y="1827102"/>
            <a:ext cx="7164371" cy="157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49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DEL SISTEMA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56747" y="7572958"/>
            <a:ext cx="7077431" cy="196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Modularidad</a:t>
            </a: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capsulación</a:t>
            </a: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Interfaces</a:t>
            </a:r>
          </a:p>
          <a:p>
            <a:pPr algn="l" marL="490336" indent="-245168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Iny</a:t>
            </a: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ección de dependencias</a:t>
            </a:r>
          </a:p>
          <a:p>
            <a:pPr algn="l">
              <a:lnSpc>
                <a:spcPts val="3179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215926" y="-461623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7" y="0"/>
                </a:lnTo>
                <a:lnTo>
                  <a:pt x="2898297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58487" y="2218129"/>
            <a:ext cx="1058344" cy="1058344"/>
            <a:chOff x="0" y="0"/>
            <a:chExt cx="1913890" cy="1913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29262" y="2403448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00059" y="2432023"/>
            <a:ext cx="4875522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Crear Usuarios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50929" y="2218129"/>
            <a:ext cx="1058344" cy="1058344"/>
            <a:chOff x="0" y="0"/>
            <a:chExt cx="1913890" cy="1913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21704" y="2403448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37248" y="2432023"/>
            <a:ext cx="480957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Reproducir Contenido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964404" y="4105148"/>
            <a:ext cx="1058344" cy="1058344"/>
            <a:chOff x="0" y="0"/>
            <a:chExt cx="1913890" cy="19138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35179" y="4290468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05975" y="4319043"/>
            <a:ext cx="4875522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Listar Usuarios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156846" y="4105148"/>
            <a:ext cx="1058344" cy="1058344"/>
            <a:chOff x="0" y="0"/>
            <a:chExt cx="1913890" cy="19138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27621" y="4290468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43165" y="4319043"/>
            <a:ext cx="480957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Registrar Historial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029262" y="6011217"/>
            <a:ext cx="1058344" cy="1058344"/>
            <a:chOff x="0" y="0"/>
            <a:chExt cx="1913890" cy="1913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100037" y="6196537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70834" y="6225112"/>
            <a:ext cx="4875522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Crear Contenido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21704" y="6011217"/>
            <a:ext cx="1058344" cy="1058344"/>
            <a:chOff x="0" y="0"/>
            <a:chExt cx="1913890" cy="19138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292479" y="6196537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43165" y="6049534"/>
            <a:ext cx="4809579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Actualizar Titulo del Contenido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958487" y="7898236"/>
            <a:ext cx="1058344" cy="1058344"/>
            <a:chOff x="0" y="0"/>
            <a:chExt cx="1913890" cy="19138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029262" y="8083556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00059" y="8112131"/>
            <a:ext cx="4875522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Listar Contenido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150929" y="7898236"/>
            <a:ext cx="1058344" cy="1058344"/>
            <a:chOff x="0" y="0"/>
            <a:chExt cx="1913890" cy="19138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221704" y="8083556"/>
            <a:ext cx="91679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37248" y="8112131"/>
            <a:ext cx="480957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Eliminar Contenido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2056099"/>
            <a:ext cx="8230901" cy="8230901"/>
            <a:chOff x="0" y="0"/>
            <a:chExt cx="3282950" cy="3282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2950" cy="3282950"/>
            </a:xfrm>
            <a:custGeom>
              <a:avLst/>
              <a:gdLst/>
              <a:ahLst/>
              <a:cxnLst/>
              <a:rect r="r" b="b" t="t" l="l"/>
              <a:pathLst>
                <a:path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750570"/>
                  </a:lnTo>
                  <a:lnTo>
                    <a:pt x="3282950" y="3282950"/>
                  </a:lnTo>
                  <a:lnTo>
                    <a:pt x="3282950" y="3282950"/>
                  </a:lnTo>
                  <a:lnTo>
                    <a:pt x="0" y="3282950"/>
                  </a:lnTo>
                  <a:lnTo>
                    <a:pt x="0" y="328295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89400" y="4036242"/>
            <a:ext cx="8472377" cy="41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 /api/users → Crear usuario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 /api/users → Listar usuarios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 /api/content → Registrar contenido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 /api/content → Listar contenido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 /api/play → Reproducir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 /api/history/:id → Historial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PUT /api/content/:id/title → Actualizar título</a:t>
            </a:r>
          </a:p>
          <a:p>
            <a:pPr algn="l" marL="581746" indent="-290873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 /api/content/:id → Eliminar contenido</a:t>
            </a:r>
          </a:p>
          <a:p>
            <a:pPr algn="l">
              <a:lnSpc>
                <a:spcPts val="3772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886920" y="2160874"/>
            <a:ext cx="1080030" cy="108003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24560" y="2362064"/>
            <a:ext cx="6977590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 WEB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20546" y="0"/>
            <a:ext cx="4327246" cy="7058755"/>
            <a:chOff x="0" y="0"/>
            <a:chExt cx="5769662" cy="941167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4079" t="0" r="4079" b="0"/>
            <a:stretch>
              <a:fillRect/>
            </a:stretch>
          </p:blipFill>
          <p:spPr>
            <a:xfrm flipH="false" flipV="false">
              <a:off x="0" y="0"/>
              <a:ext cx="5769662" cy="9411674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561886" y="2640751"/>
            <a:ext cx="1080030" cy="108003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78415" y="5831474"/>
            <a:ext cx="5738754" cy="3426826"/>
          </a:xfrm>
          <a:custGeom>
            <a:avLst/>
            <a:gdLst/>
            <a:ahLst/>
            <a:cxnLst/>
            <a:rect r="r" b="b" t="t" l="l"/>
            <a:pathLst>
              <a:path h="3426826" w="5738754">
                <a:moveTo>
                  <a:pt x="0" y="0"/>
                </a:moveTo>
                <a:lnTo>
                  <a:pt x="5738754" y="0"/>
                </a:lnTo>
                <a:lnTo>
                  <a:pt x="5738754" y="3426826"/>
                </a:lnTo>
                <a:lnTo>
                  <a:pt x="0" y="34268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786" r="0" b="-578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9526" y="2841941"/>
            <a:ext cx="666733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CONCURRENCIA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5838" y="4192602"/>
            <a:ext cx="6131024" cy="22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  <a:spcBef>
                <a:spcPct val="0"/>
              </a:spcBef>
            </a:pPr>
            <a:r>
              <a:rPr lang="en-US" sz="25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integró concurrencia a través de Go routines para mejorar el registro del historial de reproducción, demostrando la ventaja de la ejecución paralela en Go.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8136" y="4543713"/>
            <a:ext cx="8101436" cy="8101436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575315" y="1957448"/>
            <a:ext cx="1080030" cy="108003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8519697" cy="10287000"/>
          </a:xfrm>
          <a:custGeom>
            <a:avLst/>
            <a:gdLst/>
            <a:ahLst/>
            <a:cxnLst/>
            <a:rect r="r" b="b" t="t" l="l"/>
            <a:pathLst>
              <a:path h="10287000" w="8519697">
                <a:moveTo>
                  <a:pt x="0" y="0"/>
                </a:moveTo>
                <a:lnTo>
                  <a:pt x="8519697" y="0"/>
                </a:lnTo>
                <a:lnTo>
                  <a:pt x="8519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24" t="0" r="-49165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915026" y="315677"/>
            <a:ext cx="2993353" cy="870896"/>
            <a:chOff x="0" y="0"/>
            <a:chExt cx="2269857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58915" y="519579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1"/>
                </a:lnTo>
                <a:lnTo>
                  <a:pt x="0" y="433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0"/>
            <a:ext cx="8519697" cy="10287000"/>
          </a:xfrm>
          <a:custGeom>
            <a:avLst/>
            <a:gdLst/>
            <a:ahLst/>
            <a:cxnLst/>
            <a:rect r="r" b="b" t="t" l="l"/>
            <a:pathLst>
              <a:path h="10287000" w="8519697">
                <a:moveTo>
                  <a:pt x="0" y="0"/>
                </a:moveTo>
                <a:lnTo>
                  <a:pt x="8519697" y="0"/>
                </a:lnTo>
                <a:lnTo>
                  <a:pt x="8519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0874" t="0" r="-60874" b="-422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34817" y="1994860"/>
            <a:ext cx="7626960" cy="259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VISUALIZACIÓN DEL FUTURO TECNOLÓGICO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0479" y="4916382"/>
            <a:ext cx="7548821" cy="479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9"/>
              </a:lnSpc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futuro del streaming estará marcado por:</a:t>
            </a:r>
          </a:p>
          <a:p>
            <a:pPr algn="l" marL="579339" indent="-289669" lvl="1">
              <a:lnSpc>
                <a:spcPts val="4239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Automatización con IA</a:t>
            </a:r>
          </a:p>
          <a:p>
            <a:pPr algn="l" marL="579339" indent="-289669" lvl="1">
              <a:lnSpc>
                <a:spcPts val="4239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Recomendaciones personalizadas</a:t>
            </a:r>
          </a:p>
          <a:p>
            <a:pPr algn="l" marL="579339" indent="-289669" lvl="1">
              <a:lnSpc>
                <a:spcPts val="4239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 descentralizados</a:t>
            </a:r>
          </a:p>
          <a:p>
            <a:pPr algn="l" marL="579339" indent="-289669" lvl="1">
              <a:lnSpc>
                <a:spcPts val="4239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</a:t>
            </a: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gración con realidad aumentada</a:t>
            </a:r>
          </a:p>
          <a:p>
            <a:pPr algn="l" marL="579339" indent="-289669" lvl="1">
              <a:lnSpc>
                <a:spcPts val="4239"/>
              </a:lnSpc>
              <a:buFont typeface="Arial"/>
              <a:buChar char="•"/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Generación automática de contenido</a:t>
            </a:r>
          </a:p>
          <a:p>
            <a:pPr algn="l">
              <a:lnSpc>
                <a:spcPts val="4239"/>
              </a:lnSpc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 proyecto se relaciona con ese futuro por su arquitectura modular y escalable.</a:t>
            </a:r>
          </a:p>
          <a:p>
            <a:pPr algn="l">
              <a:lnSpc>
                <a:spcPts val="42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000022" y="442209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circl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61777" y="7605853"/>
            <a:ext cx="1652447" cy="16524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051687"/>
            <a:ext cx="16230600" cy="3748522"/>
            <a:chOff x="0" y="0"/>
            <a:chExt cx="21640800" cy="4998029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/>
            <a:srcRect l="0" t="32667" r="0" b="32667"/>
            <a:stretch>
              <a:fillRect/>
            </a:stretch>
          </p:blipFill>
          <p:spPr>
            <a:xfrm flipH="false" flipV="false">
              <a:off x="0" y="0"/>
              <a:ext cx="21640800" cy="4998029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1481817" y="6747869"/>
            <a:ext cx="1080030" cy="108003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69807" y="6804331"/>
            <a:ext cx="7576320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32849" y="6671669"/>
            <a:ext cx="9626380" cy="308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 proyecto integró los conocimientos de las cuatro unidades, permitiendo implementar un sistema completo, funcional y bien organizado.</a:t>
            </a:r>
          </a:p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demostró la capacidad de Go para construir servicios modernos, eficientes y escalables, aplicables a entornos reales como plataformas de streaming.</a:t>
            </a:r>
          </a:p>
          <a:p>
            <a:pPr algn="l">
              <a:lnSpc>
                <a:spcPts val="3558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684811" y="607952"/>
            <a:ext cx="2993353" cy="870896"/>
            <a:chOff x="0" y="0"/>
            <a:chExt cx="2269857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9857" cy="660400"/>
            </a:xfrm>
            <a:custGeom>
              <a:avLst/>
              <a:gdLst/>
              <a:ahLst/>
              <a:cxnLst/>
              <a:rect r="r" b="b" t="t" l="l"/>
              <a:pathLst>
                <a:path h="660400" w="2269857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811855"/>
            <a:ext cx="453117" cy="433691"/>
          </a:xfrm>
          <a:custGeom>
            <a:avLst/>
            <a:gdLst/>
            <a:ahLst/>
            <a:cxnLst/>
            <a:rect r="r" b="b" t="t" l="l"/>
            <a:pathLst>
              <a:path h="433691" w="453117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69807" y="734484"/>
            <a:ext cx="1890833" cy="55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ANDRÉS MONTEROS</a:t>
            </a:r>
          </a:p>
        </p:txBody>
      </p:sp>
    </p:spTree>
  </p:cSld>
  <p:clrMapOvr>
    <a:masterClrMapping/>
  </p:clrMapOvr>
  <p:transition spd="fast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DAG7OKYu6lc</dc:identifier>
  <dcterms:modified xsi:type="dcterms:W3CDTF">2011-08-01T06:04:30Z</dcterms:modified>
  <cp:revision>1</cp:revision>
  <dc:title>Presentación Final</dc:title>
</cp:coreProperties>
</file>